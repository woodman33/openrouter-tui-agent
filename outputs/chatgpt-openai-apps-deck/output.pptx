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8a19748f704218" /><Relationship Type="http://schemas.openxmlformats.org/officeDocument/2006/relationships/extended-properties" Target="/docProps/app.xml" Id="Re6612fe171804fbc" /><Relationship Type="http://schemas.openxmlformats.org/officeDocument/2006/relationships/officeDocument" Target="/ppt/presentation.xml" Id="R61b16ecad35d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f6c701ce54ead"/>
  </p:sldMasterIdLst>
  <p:notesMasterIdLst>
    <p:notesMasterId xmlns:r="http://schemas.openxmlformats.org/officeDocument/2006/relationships" r:id="R3097a4061a6f4a21"/>
  </p:notesMasterIdLst>
  <p:sldIdLst>
    <p:sldId xmlns:r="http://schemas.openxmlformats.org/officeDocument/2006/relationships" id="256" r:id="Rb97dea3ff4ab4e26"/>
    <p:sldId xmlns:r="http://schemas.openxmlformats.org/officeDocument/2006/relationships" id="257" r:id="Rf6929e8665f249ea"/>
    <p:sldId xmlns:r="http://schemas.openxmlformats.org/officeDocument/2006/relationships" id="258" r:id="R518dcc814e8f41ed"/>
    <p:sldId xmlns:r="http://schemas.openxmlformats.org/officeDocument/2006/relationships" id="259" r:id="R3e743632be7944b6"/>
    <p:sldId xmlns:r="http://schemas.openxmlformats.org/officeDocument/2006/relationships" id="260" r:id="R4213c65ad459469c"/>
    <p:sldId xmlns:r="http://schemas.openxmlformats.org/officeDocument/2006/relationships" id="261" r:id="Rd749fa5a9cf14807"/>
    <p:sldId xmlns:r="http://schemas.openxmlformats.org/officeDocument/2006/relationships" id="262" r:id="Rcdc6ac48b21e4d0c"/>
    <p:sldId xmlns:r="http://schemas.openxmlformats.org/officeDocument/2006/relationships" id="263" r:id="Ra6c4b44a97314710"/>
    <p:sldId xmlns:r="http://schemas.openxmlformats.org/officeDocument/2006/relationships" id="264" r:id="R6099e0bebab14c19"/>
    <p:sldId xmlns:r="http://schemas.openxmlformats.org/officeDocument/2006/relationships" id="265" r:id="Rdbf5be9c226c43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f6c701ce54ead" /><Relationship Type="http://schemas.openxmlformats.org/officeDocument/2006/relationships/theme" Target="/ppt/theme/theme1.xml" Id="Rddd3a178c3624f89" /><Relationship Type="http://schemas.openxmlformats.org/officeDocument/2006/relationships/notesMaster" Target="/ppt/notesMasters/notesMaster1.xml" Id="R3097a4061a6f4a21" /><Relationship Type="http://schemas.openxmlformats.org/officeDocument/2006/relationships/presProps" Target="/ppt/presProps.xml" Id="Re7b94825cebc4fa1" /><Relationship Type="http://schemas.openxmlformats.org/officeDocument/2006/relationships/viewProps" Target="/ppt/viewProps.xml" Id="R36b1006b0a874e68" /><Relationship Type="http://schemas.openxmlformats.org/officeDocument/2006/relationships/tableStyles" Target="/ppt/tableStyles.xml" Id="R82275d1a90b148d4" /><Relationship Type="http://schemas.openxmlformats.org/officeDocument/2006/relationships/slide" Target="/ppt/slides/slide1.xml" Id="Rb97dea3ff4ab4e26" /><Relationship Type="http://schemas.openxmlformats.org/officeDocument/2006/relationships/slide" Target="/ppt/slides/slide2.xml" Id="Rf6929e8665f249ea" /><Relationship Type="http://schemas.openxmlformats.org/officeDocument/2006/relationships/slide" Target="/ppt/slides/slide3.xml" Id="R518dcc814e8f41ed" /><Relationship Type="http://schemas.openxmlformats.org/officeDocument/2006/relationships/slide" Target="/ppt/slides/slide4.xml" Id="R3e743632be7944b6" /><Relationship Type="http://schemas.openxmlformats.org/officeDocument/2006/relationships/slide" Target="/ppt/slides/slide5.xml" Id="R4213c65ad459469c" /><Relationship Type="http://schemas.openxmlformats.org/officeDocument/2006/relationships/slide" Target="/ppt/slides/slide6.xml" Id="Rd749fa5a9cf14807" /><Relationship Type="http://schemas.openxmlformats.org/officeDocument/2006/relationships/slide" Target="/ppt/slides/slide7.xml" Id="Rcdc6ac48b21e4d0c" /><Relationship Type="http://schemas.openxmlformats.org/officeDocument/2006/relationships/slide" Target="/ppt/slides/slide8.xml" Id="Ra6c4b44a97314710" /><Relationship Type="http://schemas.openxmlformats.org/officeDocument/2006/relationships/slide" Target="/ppt/slides/slide9.xml" Id="R6099e0bebab14c19" /><Relationship Type="http://schemas.openxmlformats.org/officeDocument/2006/relationships/slide" Target="/ppt/slides/slide10.xml" Id="Rdbf5be9c226c43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98c5c03323e43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penAI Builder Workshop">
  <a:themeElements>
    <a:clrScheme name="OpenAI Builder Workshop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20B486"/>
      </a:accent1>
      <a:accent2>
        <a:srgbClr val="E96B58"/>
      </a:accent2>
      <a:accent3>
        <a:srgbClr val="D6A33A"/>
      </a:accent3>
      <a:accent4>
        <a:srgbClr val="486DFF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enAI Builder Worksho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25bf6ddd784c23" /><Relationship Type="http://schemas.openxmlformats.org/officeDocument/2006/relationships/notesMaster" Target="/ppt/notesMasters/notesMaster1.xml" Id="R6bffa18b7f0847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c749ff020f44b2" /><Relationship Type="http://schemas.openxmlformats.org/officeDocument/2006/relationships/notesMaster" Target="/ppt/notesMasters/notesMaster1.xml" Id="R031aeeba19464c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40dcd71bc44e1d" /><Relationship Type="http://schemas.openxmlformats.org/officeDocument/2006/relationships/notesMaster" Target="/ppt/notesMasters/notesMaster1.xml" Id="R409e0b0a44004e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b306c59b5d4791" /><Relationship Type="http://schemas.openxmlformats.org/officeDocument/2006/relationships/notesMaster" Target="/ppt/notesMasters/notesMaster1.xml" Id="R3a31bbf3d6c640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09b1ea149647fc" /><Relationship Type="http://schemas.openxmlformats.org/officeDocument/2006/relationships/notesMaster" Target="/ppt/notesMasters/notesMaster1.xml" Id="Re0fc958f04b642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a0be8722984e8d" /><Relationship Type="http://schemas.openxmlformats.org/officeDocument/2006/relationships/notesMaster" Target="/ppt/notesMasters/notesMaster1.xml" Id="R1172c42881d44b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ce4831f731431f" /><Relationship Type="http://schemas.openxmlformats.org/officeDocument/2006/relationships/notesMaster" Target="/ppt/notesMasters/notesMaster1.xml" Id="R3c43e54bcd2e4d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d627bec66c4de8" /><Relationship Type="http://schemas.openxmlformats.org/officeDocument/2006/relationships/notesMaster" Target="/ppt/notesMasters/notesMaster1.xml" Id="Rb8de17de5b6f4a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50a5451dfc4ef9" /><Relationship Type="http://schemas.openxmlformats.org/officeDocument/2006/relationships/notesMaster" Target="/ppt/notesMasters/notesMaster1.xml" Id="Rfa7e75a6e7f041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c719ee9ab2438c" /><Relationship Type="http://schemas.openxmlformats.org/officeDocument/2006/relationships/notesMaster" Target="/ppt/notesMasters/notesMaster1.xml" Id="R47d26d5a8ec7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slide. Emphasize that both paths are valid and often complementary.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Apps SDK quickstart: https://developers.openai.com/apps-sdk/quickstart/</a:t>
            </a:r>
          </a:p>
          <a:p xmlns:a="http://schemas.openxmlformats.org/drawingml/2006/main">
            <a:r>
              <a:t>- Build MCP server: https://developers.openai.com/apps-sdk/build/mcp-server/</a:t>
            </a:r>
          </a:p>
          <a:p xmlns:a="http://schemas.openxmlformats.org/drawingml/2006/main">
            <a:r>
              <a:t>- Build ChatGPT UI: https://developers.openai.com/apps-sdk/build/chatgpt-ui/</a:t>
            </a:r>
          </a:p>
          <a:p xmlns:a="http://schemas.openxmlformats.org/drawingml/2006/main">
            <a:r>
              <a:t>- Define tools: https://developers.openai.com/apps-sdk/plan/tools/</a:t>
            </a:r>
          </a:p>
          <a:p xmlns:a="http://schemas.openxmlformats.org/drawingml/2006/main">
            <a:r>
              <a:t>- Deploy Apps SDK: https://developers.openai.com/apps-sdk/deploy/</a:t>
            </a:r>
          </a:p>
          <a:p xmlns:a="http://schemas.openxmlformats.org/drawingml/2006/main">
            <a:r>
              <a:t>- Submit Apps: https://developers.openai.com/apps-sdk/deploy/submission/</a:t>
            </a:r>
          </a:p>
          <a:p xmlns:a="http://schemas.openxmlformats.org/drawingml/2006/main">
            <a:r>
              <a:t>- Submission guidelines: https://developers.openai.com/apps-sdk/app-submission-guidelines/</a:t>
            </a:r>
          </a:p>
          <a:p xmlns:a="http://schemas.openxmlformats.org/drawingml/2006/main">
            <a:r>
              <a:t>- Responses migration: https://developers.openai.com/api/docs/guides/migrate-to-responses</a:t>
            </a:r>
          </a:p>
          <a:p xmlns:a="http://schemas.openxmlformats.org/drawingml/2006/main">
            <a:r>
              <a:t>- OpenAI tools: https://developers.openai.com/api/docs/guides/tools</a:t>
            </a:r>
          </a:p>
          <a:p xmlns:a="http://schemas.openxmlformats.org/drawingml/2006/main">
            <a:r>
              <a:t>- Function calling: https://developers.openai.com/api/docs/guides/function-calling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frame derived from Apps SDK architecture and Responses API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Apps SDK quickstart: https://developers.openai.com/apps-sdk/quickstart/</a:t>
            </a:r>
          </a:p>
          <a:p xmlns:a="http://schemas.openxmlformats.org/drawingml/2006/main">
            <a:r>
              <a:t>- Build MCP server: https://developers.openai.com/apps-sdk/build/mcp-server/</a:t>
            </a:r>
          </a:p>
          <a:p xmlns:a="http://schemas.openxmlformats.org/drawingml/2006/main">
            <a:r>
              <a:t>- Build ChatGPT UI: https://developers.openai.com/apps-sdk/build/chatgpt-ui/</a:t>
            </a:r>
          </a:p>
          <a:p xmlns:a="http://schemas.openxmlformats.org/drawingml/2006/main">
            <a:r>
              <a:t>- Define tools: https://developers.openai.com/apps-sdk/plan/tools/</a:t>
            </a:r>
          </a:p>
          <a:p xmlns:a="http://schemas.openxmlformats.org/drawingml/2006/main">
            <a:r>
              <a:t>- Deploy Apps SDK: https://developers.openai.com/apps-sdk/deploy/</a:t>
            </a:r>
          </a:p>
          <a:p xmlns:a="http://schemas.openxmlformats.org/drawingml/2006/main">
            <a:r>
              <a:t>- Submit Apps: https://developers.openai.com/apps-sdk/deploy/submission/</a:t>
            </a:r>
          </a:p>
          <a:p xmlns:a="http://schemas.openxmlformats.org/drawingml/2006/main">
            <a:r>
              <a:t>- Submission guidelines: https://developers.openai.com/apps-sdk/app-submission-guidelines/</a:t>
            </a:r>
          </a:p>
          <a:p xmlns:a="http://schemas.openxmlformats.org/drawingml/2006/main">
            <a:r>
              <a:t>- Responses migration: https://developers.openai.com/api/docs/guides/migrate-to-responses</a:t>
            </a:r>
          </a:p>
          <a:p xmlns:a="http://schemas.openxmlformats.org/drawingml/2006/main">
            <a:r>
              <a:t>- OpenAI tools: https://developers.openai.com/api/docs/guides/tools</a:t>
            </a:r>
          </a:p>
          <a:p xmlns:a="http://schemas.openxmlformats.org/drawingml/2006/main">
            <a:r>
              <a:t>- Function calling: https://developers.openai.com/api/docs/guides/function-calling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Apps SDK server docs: MCP server defines tools, returns structuredContent/_meta/content, and points render tools at UI resources.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Apps SDK quickstart: https://developers.openai.com/apps-sdk/quickstart/</a:t>
            </a:r>
          </a:p>
          <a:p xmlns:a="http://schemas.openxmlformats.org/drawingml/2006/main">
            <a:r>
              <a:t>- Build MCP server: https://developers.openai.com/apps-sdk/build/mcp-server/</a:t>
            </a:r>
          </a:p>
          <a:p xmlns:a="http://schemas.openxmlformats.org/drawingml/2006/main">
            <a:r>
              <a:t>- Build ChatGPT UI: https://developers.openai.com/apps-sdk/build/chatgpt-ui/</a:t>
            </a:r>
          </a:p>
          <a:p xmlns:a="http://schemas.openxmlformats.org/drawingml/2006/main">
            <a:r>
              <a:t>- Define tools: https://developers.openai.com/apps-sdk/plan/tools/</a:t>
            </a:r>
          </a:p>
          <a:p xmlns:a="http://schemas.openxmlformats.org/drawingml/2006/main">
            <a:r>
              <a:t>- Deploy Apps SDK: https://developers.openai.com/apps-sdk/deploy/</a:t>
            </a:r>
          </a:p>
          <a:p xmlns:a="http://schemas.openxmlformats.org/drawingml/2006/main">
            <a:r>
              <a:t>- Submit Apps: https://developers.openai.com/apps-sdk/deploy/submission/</a:t>
            </a:r>
          </a:p>
          <a:p xmlns:a="http://schemas.openxmlformats.org/drawingml/2006/main">
            <a:r>
              <a:t>- Submission guidelines: https://developers.openai.com/apps-sdk/app-submission-guidelines/</a:t>
            </a:r>
          </a:p>
          <a:p xmlns:a="http://schemas.openxmlformats.org/drawingml/2006/main">
            <a:r>
              <a:t>- Responses migration: https://developers.openai.com/api/docs/guides/migrate-to-responses</a:t>
            </a:r>
          </a:p>
          <a:p xmlns:a="http://schemas.openxmlformats.org/drawingml/2006/main">
            <a:r>
              <a:t>- OpenAI tools: https://developers.openai.com/api/docs/guides/tools</a:t>
            </a:r>
          </a:p>
          <a:p xmlns:a="http://schemas.openxmlformats.org/drawingml/2006/main">
            <a:r>
              <a:t>- Function calling: https://developers.openai.com/api/docs/guides/function-calling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code points: resource MIME type, versioned URI, CSP, widget description, outputSchema, annotations, data/render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Apps SDK quickstart: https://developers.openai.com/apps-sdk/quickstart/</a:t>
            </a:r>
          </a:p>
          <a:p xmlns:a="http://schemas.openxmlformats.org/drawingml/2006/main">
            <a:r>
              <a:t>- Build MCP server: https://developers.openai.com/apps-sdk/build/mcp-server/</a:t>
            </a:r>
          </a:p>
          <a:p xmlns:a="http://schemas.openxmlformats.org/drawingml/2006/main">
            <a:r>
              <a:t>- Build ChatGPT UI: https://developers.openai.com/apps-sdk/build/chatgpt-ui/</a:t>
            </a:r>
          </a:p>
          <a:p xmlns:a="http://schemas.openxmlformats.org/drawingml/2006/main">
            <a:r>
              <a:t>- Define tools: https://developers.openai.com/apps-sdk/plan/tools/</a:t>
            </a:r>
          </a:p>
          <a:p xmlns:a="http://schemas.openxmlformats.org/drawingml/2006/main">
            <a:r>
              <a:t>- Deploy Apps SDK: https://developers.openai.com/apps-sdk/deploy/</a:t>
            </a:r>
          </a:p>
          <a:p xmlns:a="http://schemas.openxmlformats.org/drawingml/2006/main">
            <a:r>
              <a:t>- Submit Apps: https://developers.openai.com/apps-sdk/deploy/submission/</a:t>
            </a:r>
          </a:p>
          <a:p xmlns:a="http://schemas.openxmlformats.org/drawingml/2006/main">
            <a:r>
              <a:t>- Submission guidelines: https://developers.openai.com/apps-sdk/app-submission-guidelines/</a:t>
            </a:r>
          </a:p>
          <a:p xmlns:a="http://schemas.openxmlformats.org/drawingml/2006/main">
            <a:r>
              <a:t>- Responses migration: https://developers.openai.com/api/docs/guides/migrate-to-responses</a:t>
            </a:r>
          </a:p>
          <a:p xmlns:a="http://schemas.openxmlformats.org/drawingml/2006/main">
            <a:r>
              <a:t>- OpenAI tools: https://developers.openai.com/api/docs/guides/tools</a:t>
            </a:r>
          </a:p>
          <a:p xmlns:a="http://schemas.openxmlformats.org/drawingml/2006/main">
            <a:r>
              <a:t>- Function calling: https://developers.openai.com/api/docs/guides/function-calling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ChatGPT UI docs recommend MCP Apps bridge as default and window.openai as compatibility plus extensions.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Apps SDK quickstart: https://developers.openai.com/apps-sdk/quickstart/</a:t>
            </a:r>
          </a:p>
          <a:p xmlns:a="http://schemas.openxmlformats.org/drawingml/2006/main">
            <a:r>
              <a:t>- Build MCP server: https://developers.openai.com/apps-sdk/build/mcp-server/</a:t>
            </a:r>
          </a:p>
          <a:p xmlns:a="http://schemas.openxmlformats.org/drawingml/2006/main">
            <a:r>
              <a:t>- Build ChatGPT UI: https://developers.openai.com/apps-sdk/build/chatgpt-ui/</a:t>
            </a:r>
          </a:p>
          <a:p xmlns:a="http://schemas.openxmlformats.org/drawingml/2006/main">
            <a:r>
              <a:t>- Define tools: https://developers.openai.com/apps-sdk/plan/tools/</a:t>
            </a:r>
          </a:p>
          <a:p xmlns:a="http://schemas.openxmlformats.org/drawingml/2006/main">
            <a:r>
              <a:t>- Deploy Apps SDK: https://developers.openai.com/apps-sdk/deploy/</a:t>
            </a:r>
          </a:p>
          <a:p xmlns:a="http://schemas.openxmlformats.org/drawingml/2006/main">
            <a:r>
              <a:t>- Submit Apps: https://developers.openai.com/apps-sdk/deploy/submission/</a:t>
            </a:r>
          </a:p>
          <a:p xmlns:a="http://schemas.openxmlformats.org/drawingml/2006/main">
            <a:r>
              <a:t>- Submission guidelines: https://developers.openai.com/apps-sdk/app-submission-guidelines/</a:t>
            </a:r>
          </a:p>
          <a:p xmlns:a="http://schemas.openxmlformats.org/drawingml/2006/main">
            <a:r>
              <a:t>- Responses migration: https://developers.openai.com/api/docs/guides/migrate-to-responses</a:t>
            </a:r>
          </a:p>
          <a:p xmlns:a="http://schemas.openxmlformats.org/drawingml/2006/main">
            <a:r>
              <a:t>- OpenAI tools: https://developers.openai.com/api/docs/guides/tools</a:t>
            </a:r>
          </a:p>
          <a:p xmlns:a="http://schemas.openxmlformats.org/drawingml/2006/main">
            <a:r>
              <a:t>- Function calling: https://developers.openai.com/api/docs/guides/function-calling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 setup steps come from Apps SDK quickstart and deploy docs.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Apps SDK quickstart: https://developers.openai.com/apps-sdk/quickstart/</a:t>
            </a:r>
          </a:p>
          <a:p xmlns:a="http://schemas.openxmlformats.org/drawingml/2006/main">
            <a:r>
              <a:t>- Build MCP server: https://developers.openai.com/apps-sdk/build/mcp-server/</a:t>
            </a:r>
          </a:p>
          <a:p xmlns:a="http://schemas.openxmlformats.org/drawingml/2006/main">
            <a:r>
              <a:t>- Build ChatGPT UI: https://developers.openai.com/apps-sdk/build/chatgpt-ui/</a:t>
            </a:r>
          </a:p>
          <a:p xmlns:a="http://schemas.openxmlformats.org/drawingml/2006/main">
            <a:r>
              <a:t>- Define tools: https://developers.openai.com/apps-sdk/plan/tools/</a:t>
            </a:r>
          </a:p>
          <a:p xmlns:a="http://schemas.openxmlformats.org/drawingml/2006/main">
            <a:r>
              <a:t>- Deploy Apps SDK: https://developers.openai.com/apps-sdk/deploy/</a:t>
            </a:r>
          </a:p>
          <a:p xmlns:a="http://schemas.openxmlformats.org/drawingml/2006/main">
            <a:r>
              <a:t>- Submit Apps: https://developers.openai.com/apps-sdk/deploy/submission/</a:t>
            </a:r>
          </a:p>
          <a:p xmlns:a="http://schemas.openxmlformats.org/drawingml/2006/main">
            <a:r>
              <a:t>- Submission guidelines: https://developers.openai.com/apps-sdk/app-submission-guidelines/</a:t>
            </a:r>
          </a:p>
          <a:p xmlns:a="http://schemas.openxmlformats.org/drawingml/2006/main">
            <a:r>
              <a:t>- Responses migration: https://developers.openai.com/api/docs/guides/migrate-to-responses</a:t>
            </a:r>
          </a:p>
          <a:p xmlns:a="http://schemas.openxmlformats.org/drawingml/2006/main">
            <a:r>
              <a:t>- OpenAI tools: https://developers.openai.com/api/docs/guides/tools</a:t>
            </a:r>
          </a:p>
          <a:p xmlns:a="http://schemas.openxmlformats.org/drawingml/2006/main">
            <a:r>
              <a:t>- Function calling: https://developers.openai.com/api/docs/guides/function-calling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Responses docs describe it as the recommended primitive for new projects and an agentic loop with built-in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Apps SDK quickstart: https://developers.openai.com/apps-sdk/quickstart/</a:t>
            </a:r>
          </a:p>
          <a:p xmlns:a="http://schemas.openxmlformats.org/drawingml/2006/main">
            <a:r>
              <a:t>- Build MCP server: https://developers.openai.com/apps-sdk/build/mcp-server/</a:t>
            </a:r>
          </a:p>
          <a:p xmlns:a="http://schemas.openxmlformats.org/drawingml/2006/main">
            <a:r>
              <a:t>- Build ChatGPT UI: https://developers.openai.com/apps-sdk/build/chatgpt-ui/</a:t>
            </a:r>
          </a:p>
          <a:p xmlns:a="http://schemas.openxmlformats.org/drawingml/2006/main">
            <a:r>
              <a:t>- Define tools: https://developers.openai.com/apps-sdk/plan/tools/</a:t>
            </a:r>
          </a:p>
          <a:p xmlns:a="http://schemas.openxmlformats.org/drawingml/2006/main">
            <a:r>
              <a:t>- Deploy Apps SDK: https://developers.openai.com/apps-sdk/deploy/</a:t>
            </a:r>
          </a:p>
          <a:p xmlns:a="http://schemas.openxmlformats.org/drawingml/2006/main">
            <a:r>
              <a:t>- Submit Apps: https://developers.openai.com/apps-sdk/deploy/submission/</a:t>
            </a:r>
          </a:p>
          <a:p xmlns:a="http://schemas.openxmlformats.org/drawingml/2006/main">
            <a:r>
              <a:t>- Submission guidelines: https://developers.openai.com/apps-sdk/app-submission-guidelines/</a:t>
            </a:r>
          </a:p>
          <a:p xmlns:a="http://schemas.openxmlformats.org/drawingml/2006/main">
            <a:r>
              <a:t>- Responses migration: https://developers.openai.com/api/docs/guides/migrate-to-responses</a:t>
            </a:r>
          </a:p>
          <a:p xmlns:a="http://schemas.openxmlformats.org/drawingml/2006/main">
            <a:r>
              <a:t>- OpenAI tools: https://developers.openai.com/api/docs/guides/tools</a:t>
            </a:r>
          </a:p>
          <a:p xmlns:a="http://schemas.openxmlformats.org/drawingml/2006/main">
            <a:r>
              <a:t>- Function calling: https://developers.openai.com/api/docs/guides/function-calling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Function calling flow: request with tools, receive tool call, execute app code, send function_call_output, receive final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Apps SDK quickstart: https://developers.openai.com/apps-sdk/quickstart/</a:t>
            </a:r>
          </a:p>
          <a:p xmlns:a="http://schemas.openxmlformats.org/drawingml/2006/main">
            <a:r>
              <a:t>- Build MCP server: https://developers.openai.com/apps-sdk/build/mcp-server/</a:t>
            </a:r>
          </a:p>
          <a:p xmlns:a="http://schemas.openxmlformats.org/drawingml/2006/main">
            <a:r>
              <a:t>- Build ChatGPT UI: https://developers.openai.com/apps-sdk/build/chatgpt-ui/</a:t>
            </a:r>
          </a:p>
          <a:p xmlns:a="http://schemas.openxmlformats.org/drawingml/2006/main">
            <a:r>
              <a:t>- Define tools: https://developers.openai.com/apps-sdk/plan/tools/</a:t>
            </a:r>
          </a:p>
          <a:p xmlns:a="http://schemas.openxmlformats.org/drawingml/2006/main">
            <a:r>
              <a:t>- Deploy Apps SDK: https://developers.openai.com/apps-sdk/deploy/</a:t>
            </a:r>
          </a:p>
          <a:p xmlns:a="http://schemas.openxmlformats.org/drawingml/2006/main">
            <a:r>
              <a:t>- Submit Apps: https://developers.openai.com/apps-sdk/deploy/submission/</a:t>
            </a:r>
          </a:p>
          <a:p xmlns:a="http://schemas.openxmlformats.org/drawingml/2006/main">
            <a:r>
              <a:t>- Submission guidelines: https://developers.openai.com/apps-sdk/app-submission-guidelines/</a:t>
            </a:r>
          </a:p>
          <a:p xmlns:a="http://schemas.openxmlformats.org/drawingml/2006/main">
            <a:r>
              <a:t>- Responses migration: https://developers.openai.com/api/docs/guides/migrate-to-responses</a:t>
            </a:r>
          </a:p>
          <a:p xmlns:a="http://schemas.openxmlformats.org/drawingml/2006/main">
            <a:r>
              <a:t>- OpenAI tools: https://developers.openai.com/api/docs/guides/tools</a:t>
            </a:r>
          </a:p>
          <a:p xmlns:a="http://schemas.openxmlformats.org/drawingml/2006/main">
            <a:r>
              <a:t>- Function calling: https://developers.openai.com/api/docs/guides/function-calling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Playground vs. Production: Dashboard Playground is great for prompt tuning, but the final app requires Express/Next.js routes. Tools parameter in Responses controls built-in functions, custom tools, and remote MCP. Keep API keys strictly server-side.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Apps SDK quickstart: https://developers.openai.com/apps-sdk/quickstart/</a:t>
            </a:r>
          </a:p>
          <a:p xmlns:a="http://schemas.openxmlformats.org/drawingml/2006/main">
            <a:r>
              <a:t>- Build MCP server: https://developers.openai.com/apps-sdk/build/mcp-server/</a:t>
            </a:r>
          </a:p>
          <a:p xmlns:a="http://schemas.openxmlformats.org/drawingml/2006/main">
            <a:r>
              <a:t>- Build ChatGPT UI: https://developers.openai.com/apps-sdk/build/chatgpt-ui/</a:t>
            </a:r>
          </a:p>
          <a:p xmlns:a="http://schemas.openxmlformats.org/drawingml/2006/main">
            <a:r>
              <a:t>- Define tools: https://developers.openai.com/apps-sdk/plan/tools/</a:t>
            </a:r>
          </a:p>
          <a:p xmlns:a="http://schemas.openxmlformats.org/drawingml/2006/main">
            <a:r>
              <a:t>- Deploy Apps SDK: https://developers.openai.com/apps-sdk/deploy/</a:t>
            </a:r>
          </a:p>
          <a:p xmlns:a="http://schemas.openxmlformats.org/drawingml/2006/main">
            <a:r>
              <a:t>- Submit Apps: https://developers.openai.com/apps-sdk/deploy/submission/</a:t>
            </a:r>
          </a:p>
          <a:p xmlns:a="http://schemas.openxmlformats.org/drawingml/2006/main">
            <a:r>
              <a:t>- Submission guidelines: https://developers.openai.com/apps-sdk/app-submission-guidelines/</a:t>
            </a:r>
          </a:p>
          <a:p xmlns:a="http://schemas.openxmlformats.org/drawingml/2006/main">
            <a:r>
              <a:t>- Responses migration: https://developers.openai.com/api/docs/guides/migrate-to-responses</a:t>
            </a:r>
          </a:p>
          <a:p xmlns:a="http://schemas.openxmlformats.org/drawingml/2006/main">
            <a:r>
              <a:t>- OpenAI tools: https://developers.openai.com/api/docs/guides/tools</a:t>
            </a:r>
          </a:p>
          <a:p xmlns:a="http://schemas.openxmlformats.org/drawingml/2006/main">
            <a:r>
              <a:t>- Function calling: https://developers.openai.com/api/docs/guides/function-calling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Submission checklist: Deploy to stable HTTPS with reliable TLS. Restrict CSP widget domains. Validate tools with MCP Inspector. Submit org verification, screenshots, privacy policy, and valid test 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Apps SDK quickstart: https://developers.openai.com/apps-sdk/quickstart/</a:t>
            </a:r>
          </a:p>
          <a:p xmlns:a="http://schemas.openxmlformats.org/drawingml/2006/main">
            <a:r>
              <a:t>- Build MCP server: https://developers.openai.com/apps-sdk/build/mcp-server/</a:t>
            </a:r>
          </a:p>
          <a:p xmlns:a="http://schemas.openxmlformats.org/drawingml/2006/main">
            <a:r>
              <a:t>- Build ChatGPT UI: https://developers.openai.com/apps-sdk/build/chatgpt-ui/</a:t>
            </a:r>
          </a:p>
          <a:p xmlns:a="http://schemas.openxmlformats.org/drawingml/2006/main">
            <a:r>
              <a:t>- Define tools: https://developers.openai.com/apps-sdk/plan/tools/</a:t>
            </a:r>
          </a:p>
          <a:p xmlns:a="http://schemas.openxmlformats.org/drawingml/2006/main">
            <a:r>
              <a:t>- Deploy Apps SDK: https://developers.openai.com/apps-sdk/deploy/</a:t>
            </a:r>
          </a:p>
          <a:p xmlns:a="http://schemas.openxmlformats.org/drawingml/2006/main">
            <a:r>
              <a:t>- Submit Apps: https://developers.openai.com/apps-sdk/deploy/submission/</a:t>
            </a:r>
          </a:p>
          <a:p xmlns:a="http://schemas.openxmlformats.org/drawingml/2006/main">
            <a:r>
              <a:t>- Submission guidelines: https://developers.openai.com/apps-sdk/app-submission-guidelines/</a:t>
            </a:r>
          </a:p>
          <a:p xmlns:a="http://schemas.openxmlformats.org/drawingml/2006/main">
            <a:r>
              <a:t>- Responses migration: https://developers.openai.com/api/docs/guides/migrate-to-responses</a:t>
            </a:r>
          </a:p>
          <a:p xmlns:a="http://schemas.openxmlformats.org/drawingml/2006/main">
            <a:r>
              <a:t>- OpenAI tools: https://developers.openai.com/api/docs/guides/tools</a:t>
            </a:r>
          </a:p>
          <a:p xmlns:a="http://schemas.openxmlformats.org/drawingml/2006/main">
            <a:r>
              <a:t>- Function calling: https://developers.openai.com/api/docs/guides/function-calling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174a48ff44c9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437fabf23024024" /><Relationship Type="http://schemas.openxmlformats.org/officeDocument/2006/relationships/slideLayout" Target="/ppt/slideLayouts/slideLayout2.xml" Id="Rba474c844f834b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474c844f83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6d656283724871" /><Relationship Type="http://schemas.openxmlformats.org/officeDocument/2006/relationships/notesSlide" Target="/ppt/notesSlides/notesSlide1.xml" Id="R243bb542b2c241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edf1f64e364cc8" /><Relationship Type="http://schemas.openxmlformats.org/officeDocument/2006/relationships/notesSlide" Target="/ppt/notesSlides/notesSlide2.xml" Id="R64ff2acd93744c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2545a9f3de4a6e" /><Relationship Type="http://schemas.openxmlformats.org/officeDocument/2006/relationships/notesSlide" Target="/ppt/notesSlides/notesSlide3.xml" Id="Rdf4557d4964d49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03897575ed4b9d" /><Relationship Type="http://schemas.openxmlformats.org/officeDocument/2006/relationships/notesSlide" Target="/ppt/notesSlides/notesSlide4.xml" Id="R534e0a00d3914f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7ee798b52406e" /><Relationship Type="http://schemas.openxmlformats.org/officeDocument/2006/relationships/notesSlide" Target="/ppt/notesSlides/notesSlide5.xml" Id="R0bb7991e128d4b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3fe63be7bd4ff1" /><Relationship Type="http://schemas.openxmlformats.org/officeDocument/2006/relationships/notesSlide" Target="/ppt/notesSlides/notesSlide6.xml" Id="R8cd7c8a936b14f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0c650869fc4e16" /><Relationship Type="http://schemas.openxmlformats.org/officeDocument/2006/relationships/notesSlide" Target="/ppt/notesSlides/notesSlide7.xml" Id="Rd7ba3f3c479941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aea691cb3452f" /><Relationship Type="http://schemas.openxmlformats.org/officeDocument/2006/relationships/notesSlide" Target="/ppt/notesSlides/notesSlide8.xml" Id="Ree5119abbc9845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e7b6aacf8f4a29" /><Relationship Type="http://schemas.openxmlformats.org/officeDocument/2006/relationships/notesSlide" Target="/ppt/notesSlides/notesSlide9.xml" Id="R33dea5f6eb6640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4ca9a4419947b4" /><Relationship Type="http://schemas.openxmlformats.org/officeDocument/2006/relationships/notesSlide" Target="/ppt/notesSlides/notesSlide10.xml" Id="Rc1332fd52d8e41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AC83D-4E08-4112-8E3B-4FD110BC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7736E-2342-4793-AB49-99859A5E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762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729C7-89E3-46CE-9BC3-50E598B1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DEVELOPER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1104F-F367-4075-8B6A-33CACFA3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57300"/>
            <a:ext cx="7810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Poppins"/>
                <a:ea typeface="Poppins"/>
                <a:cs typeface="Poppins"/>
              </a:defRPr>
            </a:pPr>
            <a:r>
              <a:rPr sz="3150" b="1">
                <a:solidFill>
                  <a:srgbClr val="111318"/>
                </a:solidFill>
                <a:latin typeface="Poppins"/>
                <a:ea typeface="Poppins"/>
                <a:cs typeface="Poppins"/>
              </a:rPr>
              <a:t>Programmatically build apps for ChatGPT and the OpenAI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8F3FA-B996-4179-8E85-D840D275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333940"/>
                </a:solidFill>
                <a:latin typeface="Lato"/>
                <a:ea typeface="Lato"/>
                <a:cs typeface="Lato"/>
              </a:rPr>
              <a:t>Two paths, one mental model: expose capabilities as tools, decide who owns the UI, then deploy behind a secure HTTPS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60479-AF92-4940-9655-77385C03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4ED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593DE-3E56-4B40-AEC7-EFD4822C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Path A: ChatGPT Apps SDK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0967B-5CD3-41A5-B12D-B497C4B3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71950"/>
            <a:ext cx="2647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6EE2D-FC6B-4632-995A-4F2247E8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57675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Path B: OpenAI Platform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2B1EA-E833-48EC-9273-503698CD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4775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D04D7-4220-4461-9BBE-8C797BFB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47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A719-843B-47CF-80AE-16AE439C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192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rPr>
              <a:t>What you will leave with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DD265-4ABC-483B-BA11-F0150572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Architecture choices, working code skeletons, UI setup steps, deployment expectations, and a submission-readiness checklist.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8CE64-E8B3-4AA5-B806-B16956BE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986A8-A932-4CA7-914A-878B5748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7469A-3A12-4968-B21F-D8214C57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rPr>
              <a:t>Core choice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DC25B-F591-4245-9546-C0F42658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Build inside ChatGPT when the conversation is the product surface. Build on the Platform when your own app owns the primary UX.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40C43-45A8-47BB-B5AD-8EE2314B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A5E42-B367-4FF7-B944-883F692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B25F6-4C7B-438D-8FDD-D1D15173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B0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A5B0A"/>
                </a:solidFill>
                <a:latin typeface="Aptos Mono"/>
                <a:ea typeface="Aptos Mono"/>
                <a:cs typeface="Aptos Mono"/>
              </a:rPr>
              <a:t>Shared principle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E2655-BE1D-4105-AA07-4D9E1D6A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010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The model needs clear tool metadata, narrow schemas, explicit side-effect hints, and structured outputs it can reason about.</a:t>
            </a:r>
          </a:p>
        </p:txBody>
      </p:sp>
    </p:spTree>
    <p:extLst>
      <p:ext uri="{BB962C8B-B14F-4D97-AF65-F5344CB8AC3E}">
        <p14:creationId xmlns:p14="http://schemas.microsoft.com/office/powerpoint/2010/main" val="2090963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AFE307-0119-4ED2-A837-0D7E7947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DECISION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5C50F-1370-440A-A036-81FC06F6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06B13-DA68-4D6B-A851-69830320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14288">
            <a:solidFill>
              <a:srgbClr val="2428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9C860-4DB2-4A98-A160-9AFC9243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11318"/>
                </a:solidFill>
                <a:latin typeface="Poppins"/>
                <a:ea typeface="Poppins"/>
                <a:cs typeface="Poppins"/>
              </a:rPr>
              <a:t>The two build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CEDFD-3F96-434E-985F-E534B70E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333940"/>
                </a:solidFill>
                <a:latin typeface="Lato"/>
                <a:ea typeface="Lato"/>
                <a:cs typeface="Lato"/>
              </a:rPr>
              <a:t>Choose the runtime before you choose the framework. The fastest architecture is obvious once you decide where the user experiences the app.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1332E-2C19-418D-B6B3-F989F65F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DBB03-1107-4299-A150-99FCF2BD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FF4ED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BA4DA-4779-483B-8558-7EDF1B7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51C62-DDD3-47F9-9406-47F177A6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rPr>
              <a:t>ChatGPT-native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65C8C-A06C-43B8-BEE4-0DEEAC3A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724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Use when users should invoke your capability in a ChatGPT conversation, see an inline widget, and let the model select tools from your MCP metadata.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34514-279C-4C81-B373-5CA1DD39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99205-9C2D-4EBB-8252-B54EDBA2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337A1-9D1F-45D3-80B9-9B23D9A1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rPr>
              <a:t>Own product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DCFD2-A6D9-4C9D-A3A8-27DECB41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724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Use when your app controls navigation, auth, state, billing, and the primary interaction surface while OpenAI APIs power model behavior.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4E407-D9C9-4EF4-B8A2-A218E885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BE5E0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FDDED-7C5C-4EB9-ABE5-793C5153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DBFDF-04B2-407D-ACCB-531E14E7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rPr>
              <a:t>Hybrid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CD827-9AA7-4B55-A36C-017CDEFA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2724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Use the same backend capabilities in both places: MCP tools for ChatGPT, ordinary API endpoints for your web or mobile product.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7038D-D075-492E-A261-E4CB5A0A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91150"/>
            <a:ext cx="2133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4E198-B098-4D4A-AC2D-D4DCAE69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768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ChatGPT owns host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446BA-C9A2-480D-A694-502C4934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91150"/>
            <a:ext cx="2133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4D67B-D292-4075-8E3E-1B9C3938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4768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You own app shell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50AD42-AC52-4A59-BFA2-E42AFBCC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91150"/>
            <a:ext cx="2076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0A507-B2C5-4544-B460-025A9BD8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768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Shared service layer</a:t>
            </a:r>
          </a:p>
        </p:txBody>
      </p:sp>
    </p:spTree>
    <p:extLst>
      <p:ext uri="{BB962C8B-B14F-4D97-AF65-F5344CB8AC3E}">
        <p14:creationId xmlns:p14="http://schemas.microsoft.com/office/powerpoint/2010/main" val="962275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6E372D-B353-417C-81B6-AF3B3622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CHATGPT APPS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5A3BA-92D5-4A52-9653-BD38724F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76CFB-21DB-40D7-AD08-235E39CC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14288">
            <a:solidFill>
              <a:srgbClr val="2428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685AC-FC08-44D6-91DF-5BC4D285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11318"/>
                </a:solidFill>
                <a:latin typeface="Poppins"/>
                <a:ea typeface="Poppins"/>
                <a:cs typeface="Poppins"/>
              </a:rPr>
              <a:t>ChatGPT Apps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3D3CF-7822-4025-A470-2803B31B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333940"/>
                </a:solidFill>
                <a:latin typeface="Lato"/>
                <a:ea typeface="Lato"/>
                <a:cs typeface="Lato"/>
              </a:rPr>
              <a:t>Expose tools via an MCP server, register widgets, and connect using the postMessage bridge.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6203B-D9AC-47ED-8C8B-5B9B4A8A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CB8EE-3B99-4CC7-818E-601E5A26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E5E0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1682-E905-4A85-968C-7148F7E8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959A0-7622-4DE6-AAD1-44075435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rPr>
              <a:t>User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97489-20B5-4A9A-8AC4-B0A84849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A request in ChatGPT triggers model tool selection.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0EC69-1313-4867-96AF-6DAC7887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670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FF4ED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AD6A2-2098-4D52-A884-C745AE9F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670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259E2-3ED0-4104-B091-DCBBE2E5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rPr>
              <a:t>MCP 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D4F78-227A-4B5A-807D-E9F89FEF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Your server validates input and runs business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5AAF4-14FD-414D-9A19-F798F638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670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8BD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E6BF0-363A-4825-B016-BE68744E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670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C81A8-9366-48AD-9E0C-6F1A8B4D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B0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A5B0A"/>
                </a:solidFill>
                <a:latin typeface="Aptos Mono"/>
                <a:ea typeface="Aptos Mono"/>
                <a:cs typeface="Aptos Mono"/>
              </a:rPr>
              <a:t>Tool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2CBBB-64AC-40C2-8177-32C15ABC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Return structuredContent for model and widget; _meta for widget-only payloads.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932D1-5CCD-415D-924A-B35ACDB6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B0B07-F189-43E8-9837-0A363507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12220-5459-486F-A402-DC3523F2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rPr>
              <a:t>Widget iframe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0E073-A6D2-40D8-99FD-51284384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Render HTML with text/html;profile=mcp-app and receive bridge notifications.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87C3D-7C3F-4BCC-B99D-BF5E9B4A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71875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35A82-3BE9-4FE2-BED0-4F72F33A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71875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99B53-BAC5-432B-B349-80C8770A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BEABE-D56A-40B7-BBB4-82605DCF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B8F85-C630-4C94-85C5-A330EFB9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B7B89-4AF4-4D60-868E-538C96B9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38750"/>
            <a:ext cx="405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rPr>
              <a:t>Tool design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BFF7D9-6149-40BE-9709-8E4CEE13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81650"/>
            <a:ext cx="405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One job per tool. Split data tools from render tools when the UI should only mount after model-checked data.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87C3A9-9B80-42BA-99D5-03E1CB2D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172495-A1CB-40AD-A315-40CFEDB2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C41534-7260-48BB-B081-FDC5928A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38750"/>
            <a:ext cx="405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rPr>
              <a:t>Security rule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FC7E3-E9E6-4DC6-8BEE-814277E2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05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Set exact CSP domains, version template URIs, and mark read/write/destructive/open-world hints accurately.</a:t>
            </a:r>
          </a:p>
        </p:txBody>
      </p:sp>
    </p:spTree>
    <p:extLst>
      <p:ext uri="{BB962C8B-B14F-4D97-AF65-F5344CB8AC3E}">
        <p14:creationId xmlns:p14="http://schemas.microsoft.com/office/powerpoint/2010/main" val="1632528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DE645A-358B-4C15-8505-C21714BB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CHATGPT APPS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0009B-05E0-4EA5-9892-6044D8C7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B1596-EB6F-4722-8900-144C9D44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14288">
            <a:solidFill>
              <a:srgbClr val="2428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0B2F1-9211-4740-ABA3-82B127C7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11318"/>
                </a:solidFill>
                <a:latin typeface="Poppins"/>
                <a:ea typeface="Poppins"/>
                <a:cs typeface="Poppins"/>
              </a:rPr>
              <a:t>ChatGPT Apps server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E640D-7BA5-4DDE-9E5D-5263F392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333940"/>
                </a:solidFill>
                <a:latin typeface="Lato"/>
                <a:ea typeface="Lato"/>
                <a:cs typeface="Lato"/>
              </a:rPr>
              <a:t>Minimal TypeScript MCP server skeleton using registerAppResource and registerAppTool.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75916-7C14-441A-A25B-8B89910E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C3889-0993-4371-8570-9984921B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2197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12151B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15017-CEF9-4BD2-B4A3-3D075CB4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7F577-C4EE-4895-96B3-E16992F7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205AF-3843-4C08-8105-BA33339C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3BD45-9190-4ADB-88FD-1F393FBE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F015E-D2F5-40F6-B01D-D2BE8B6D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95575"/>
            <a:ext cx="434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rPr>
              <a:t>server/src/index.ts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99BA0-A7DD-4FCB-BA98-A48FC95C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48387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66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import { McpServer } from "@modelcontextprotocol/sdk/server/mcp.js";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import { registerAppResource, RESOURCE_MIME_TYPE } from "@modelcontextprotocol/ext-apps/server";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import { z } from "zod";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const TEMPLATE_URI = "ui://widget/research-v1.html";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const server = new McpServer({ name: "research-app", version: "0.1.0"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registerAppResource(server, "widget", TEMPLATE_URI, {}, async () =&gt; ({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contents: [{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uri: TEMPLATE_URI,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mimeType: RESOURCE_MIME_TYPE,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text: widgetHtml,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_meta: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ui: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prefersBorder: true,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domain: "https://research.example.com",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csp: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  connectDomains: ["https://api.example.com"],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  resourceDomains: ["https://persistent.oaistatic.com"]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}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},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"openai/widgetDescription": "Shows selected research notes."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}]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}));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5C505-1006-4135-B2E0-F9B7B5F5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52959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12151B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D4C41-C8CC-4B60-BF8A-938F0FC3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529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B35B9-3A1E-49BB-8518-13287F8F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A3C60-BEAB-44D3-9BB2-C3FD2E5E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F18AD-591E-4E22-9EEF-FE0D036D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6A44B-E76A-4416-8217-DA5A735E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95575"/>
            <a:ext cx="441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rPr>
              <a:t>data tool + render 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14429-DDCC-4951-97B0-D501734A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49149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06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registerAppTool(server, "search_notes",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title: "Search notes",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description: "Use this when the user asks to find relevant notes.",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inputSchema: { query: z.string().min(1) },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outputSchema: { results: z.array(z.object({ id: z.string(), title: z.string() })) },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annotations: { readOnlyHint: true },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}, async ({ query }) =&gt;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const results = await searchNotes(query);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return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structuredContent: { results },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content: [{ type: "text", text: JSON.stringify({ results }) }]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registerAppTool(server, "render_notes",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title: "Render notes",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description: "Render notes returned by search_notes.",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inputSchema: { ids: z.array(z.string()) },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outputSchema: { ids: z.array(z.string()) },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_meta: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ui: { resourceUri: TEMPLATE_URI },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"openai/outputTemplate": TEMPLATE_URI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}, async ({ ids }) =&gt; ({ structuredContent: { ids } }));</a:t>
            </a:r>
          </a:p>
        </p:txBody>
      </p:sp>
    </p:spTree>
    <p:extLst>
      <p:ext uri="{BB962C8B-B14F-4D97-AF65-F5344CB8AC3E}">
        <p14:creationId xmlns:p14="http://schemas.microsoft.com/office/powerpoint/2010/main" val="868349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E9CE05-7DFA-4F1A-ABAC-BADD4825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CHATGPT APPS WIDGET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4D7F0-8B59-41A4-B48A-828FF544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CDCDA-6051-4D3A-B186-DD6C64E5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14288">
            <a:solidFill>
              <a:srgbClr val="2428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A2B91-95A0-4064-BCF0-6A39A933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11318"/>
                </a:solidFill>
                <a:latin typeface="Poppins"/>
                <a:ea typeface="Poppins"/>
                <a:cs typeface="Poppins"/>
              </a:rPr>
              <a:t>ChatGPT Apps widget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4A9E4-ABCD-42FC-8E00-368DC941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333940"/>
                </a:solidFill>
                <a:latin typeface="Lato"/>
                <a:ea typeface="Lato"/>
                <a:cs typeface="Lato"/>
              </a:rPr>
              <a:t>Render from tool results via notifications and call tools/send user messages via postMessage.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FD174-9A3A-482C-893A-67C71E94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7C315-6392-47A7-AD69-FE95C774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50673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2151B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A5C72-70CD-4FEF-8614-6180AF25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506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8CD83-DC39-47F5-8A7D-8EA4AD5F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F6E52-F605-4FBC-B088-164506A4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6B5C0-7A2F-4FE5-B2D6-91497A05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65B39-A701-4B67-A24B-32F9271E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5747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rPr>
              <a:t>web/src/component.js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038DD-2981-43DE-9966-59D6CBEE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6863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const root = document.querySelector("#root");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let rpcId = 0;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const pending = new Map();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function request(method, params)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const id = ++rpcId;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window.parent.postMessage({ jsonrpc: "2.0", id, method, params }, "*");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return new Promise((resolve, reject) =&gt; pending.set(id, { resolve, reject }));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window.addEventListener("message", (event) =&gt;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if (event.source !== window.parent) return;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const msg = event.data;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if (!msg || msg.jsonrpc !== "2.0")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if (msg.id &amp;&amp; pending.has(msg.id))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const { resolve, reject } = pending.get(msg.id);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pending.delete(msg.id);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msg.error ? reject(msg.error) : resolve(msg.result);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if (msg.method === "ui/notifications/tool-result")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render(msg.params?.structuredContent);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}, { passive: true });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CE31C-AF92-4DED-B75D-C5CE37FC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0482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2151B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DB74F-C0C5-4C41-A483-0F5412A4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7E92D-7B5B-4283-AAE3-5F53D249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F8A92-28AF-4440-B2B4-1263437D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7E468-16B6-45A7-9C1C-39D0432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D7AD0-814D-4BFB-8B2A-126EC26F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57475"/>
            <a:ext cx="417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rPr>
              <a:t>bridge calls + optional extension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9EDD7-2310-4163-B5C6-327C5871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6672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async function rerunSearch(query)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const result = await request("tools/call",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name: "search_notes",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arguments: { query }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render(result.structuredContent);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async function sendFollowUp(ids)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window.parent.postMessage({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jsonrpc: "2.0",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method: "ui/message",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params: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role: "user",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content: [{ type: "text", text: `Summarize notes: ${ids.join(", ")}` }]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}, "*");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// Optional ChatGPT extension: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await window.openai?.requestDisplayMode?.({ mode: "fullscreen" });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B234D-64CC-4C7B-81C3-4E9F4D6E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4800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737F61-602D-456D-9A9E-88D78A85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A96EDA-8F31-4694-B9AE-34A18732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76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B486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20B486"/>
                </a:solidFill>
                <a:latin typeface="Lato"/>
                <a:ea typeface="Lato"/>
                <a:cs typeface="Lato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11C3C-A86D-42E8-9B2B-88A77517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3246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75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333940"/>
                </a:solidFill>
                <a:latin typeface="Lato"/>
                <a:ea typeface="Lato"/>
                <a:cs typeface="Lato"/>
              </a:rPr>
              <a:t>JSON-RPC over postMessage: tool-result, tools/call, ui/message, and model-context updates.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8B690B-00DC-413F-9762-B522201B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43600"/>
            <a:ext cx="4800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346E8-3A86-409B-B92A-54224108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436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C397D8-A681-4605-9FBC-69339650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076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D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486DFF"/>
                </a:solidFill>
                <a:latin typeface="Lato"/>
                <a:ea typeface="Lato"/>
                <a:cs typeface="Lato"/>
              </a:rPr>
              <a:t>ChatGPT extras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FBD359-B906-4963-93E0-4D439A68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246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3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333940"/>
                </a:solidFill>
                <a:latin typeface="Lato"/>
                <a:ea typeface="Lato"/>
                <a:cs typeface="Lato"/>
              </a:rPr>
              <a:t>Feature-detect window.openai APIs for files, modals, fullscreen, checkout, and navigation.</a:t>
            </a:r>
          </a:p>
        </p:txBody>
      </p:sp>
    </p:spTree>
    <p:extLst>
      <p:ext uri="{BB962C8B-B14F-4D97-AF65-F5344CB8AC3E}">
        <p14:creationId xmlns:p14="http://schemas.microsoft.com/office/powerpoint/2010/main" val="632731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E5900-ECBE-4D86-868A-BB655BB3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USING THE CHATGPT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B9319-FAFF-42B8-BA0A-C2392F82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1B05F-A72E-4FBE-8577-38D183E5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14288">
            <a:solidFill>
              <a:srgbClr val="2428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FBB5D-6806-4572-97C0-AC69BAB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11318"/>
                </a:solidFill>
                <a:latin typeface="Poppins"/>
                <a:ea typeface="Poppins"/>
                <a:cs typeface="Poppins"/>
              </a:rPr>
              <a:t>Using the ChatGPT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83749-3380-4D40-A820-0C7801C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333940"/>
                </a:solidFill>
                <a:latin typeface="Lato"/>
                <a:ea typeface="Lato"/>
                <a:cs typeface="Lato"/>
              </a:rPr>
              <a:t>Developer Mode loop: run local server, open tunnel, install in ChatGPT, and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F4589-EA10-495E-B4BF-EE7EA5E4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53BB1-974E-4E77-9CB8-ECBDC73B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D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67068-4393-49E5-981D-4A7BD03F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8A9DB-6290-4FDE-9929-D4B3304E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11318"/>
                </a:solidFill>
                <a:latin typeface="Lato"/>
                <a:ea typeface="Lato"/>
                <a:cs typeface="Lato"/>
              </a:rPr>
              <a:t>Run MCP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5022E-4103-44E2-98E1-34A5A503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333940"/>
                </a:solidFill>
                <a:latin typeface="Lato"/>
                <a:ea typeface="Lato"/>
                <a:cs typeface="Lato"/>
              </a:rPr>
              <a:t>Start on http://localhost:&lt;port&gt;/mcp. Build the widget bundle first if you use React or Vite.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385F7-9539-45F9-9F29-07B64D9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FF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C0418-5ACC-45FA-94D4-A700DC96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527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7B325-2742-48B2-A0C0-AB18DDE5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11318"/>
                </a:solidFill>
                <a:latin typeface="Lato"/>
                <a:ea typeface="Lato"/>
                <a:cs typeface="Lato"/>
              </a:rPr>
              <a:t>Inspect locally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26700-CF5F-48C8-89E1-817E386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95600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333940"/>
                </a:solidFill>
                <a:latin typeface="Lato"/>
                <a:ea typeface="Lato"/>
                <a:cs typeface="Lato"/>
              </a:rPr>
              <a:t>Use MCP Inspector against the HTTP MCP URL to verify tool descriptors and widget rendering.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F2AEA-2C87-48B6-AE25-09442925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D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B61A5-5E92-4FDD-896C-4FD6E0FA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0B4B9-9853-4CB5-903B-BA2BCEFA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11318"/>
                </a:solidFill>
                <a:latin typeface="Lato"/>
                <a:ea typeface="Lato"/>
                <a:cs typeface="Lato"/>
              </a:rPr>
              <a:t>Open tunnel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D9DBC-9413-44DD-9FA5-E13474B4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333940"/>
                </a:solidFill>
                <a:latin typeface="Lato"/>
                <a:ea typeface="Lato"/>
                <a:cs typeface="Lato"/>
              </a:rPr>
              <a:t>Run ngrok http &lt;port&gt; and keep the HTTPS forwarding URL active during development.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34CC2-F685-4B53-9930-0D440578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FF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03FC6-2E25-4A4A-9866-2E1BDD66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338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E9570-6D93-4F9A-96EC-383A78E5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11318"/>
                </a:solidFill>
                <a:latin typeface="Lato"/>
                <a:ea typeface="Lato"/>
                <a:cs typeface="Lato"/>
              </a:rPr>
              <a:t>Create ChatGPT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CCA83-AD4E-49EE-B864-86F5C6BA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76700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333940"/>
                </a:solidFill>
                <a:latin typeface="Lato"/>
                <a:ea typeface="Lato"/>
                <a:cs typeface="Lato"/>
              </a:rPr>
              <a:t>Enable Developer Mode in Settings -&gt; Apps &amp; Connectors -&gt; Advanced settings, then add the HTTPS /mcp URL.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03C0B-3455-48DE-ABAE-20BF0D6C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D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4A469-FF54-405A-B871-5AF83164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DFD99-AF15-4C33-BCCD-BC0941BA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33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11318"/>
                </a:solidFill>
                <a:latin typeface="Lato"/>
                <a:ea typeface="Lato"/>
                <a:cs typeface="Lato"/>
              </a:rPr>
              <a:t>Exercise prompts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8C270-3D6C-47A1-9E39-AD966E5D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57800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333940"/>
                </a:solidFill>
                <a:latin typeface="Lato"/>
                <a:ea typeface="Lato"/>
                <a:cs typeface="Lato"/>
              </a:rPr>
              <a:t>Open a fresh chat, add your app from the + / More menu, and ask golden prompts plus negative prompts.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B4E7C5-1A63-4DAD-8F8E-F50AB5DC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0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FF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A2F27-9478-426B-897B-CFAD7F15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149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F4209-3E15-4358-BF65-F6A7E5C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33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11318"/>
                </a:solidFill>
                <a:latin typeface="Lato"/>
                <a:ea typeface="Lato"/>
                <a:cs typeface="Lato"/>
              </a:rPr>
              <a:t>Refresh after metadata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05553-E627-493C-9026-DC2F4E86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57800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333940"/>
                </a:solidFill>
                <a:latin typeface="Lato"/>
                <a:ea typeface="Lato"/>
                <a:cs typeface="Lato"/>
              </a:rPr>
              <a:t>When tools, schemas, CSP, or templates change, refresh the app in ChatGPT settings.</a:t>
            </a:r>
          </a:p>
        </p:txBody>
      </p:sp>
    </p:spTree>
    <p:extLst>
      <p:ext uri="{BB962C8B-B14F-4D97-AF65-F5344CB8AC3E}">
        <p14:creationId xmlns:p14="http://schemas.microsoft.com/office/powerpoint/2010/main" val="2257733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E7133-CD38-46DE-B05A-2DBBF940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OPENAI PLATFORM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C7360-71AC-44BE-B87C-3A166FDB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BBBA1-36C3-4175-8D2C-03DE7CF6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14288">
            <a:solidFill>
              <a:srgbClr val="2428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9DD76-BABF-4631-BCFB-D7D94BB6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11318"/>
                </a:solidFill>
                <a:latin typeface="Poppins"/>
                <a:ea typeface="Poppins"/>
                <a:cs typeface="Poppins"/>
              </a:rPr>
              <a:t>OpenAI Platform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F499C-4330-4E68-9688-2D01FBAD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333940"/>
                </a:solidFill>
                <a:latin typeface="Lato"/>
                <a:ea typeface="Lato"/>
                <a:cs typeface="Lato"/>
              </a:rPr>
              <a:t>Your product frontend calls your backend, which calls OpenAI APIs, allowing you to own the entire UX surface.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9C51A-FB61-4B56-9AFC-0268392D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07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62B0A-F77C-4436-B788-63D30816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DF43B-ED7C-47E1-838A-3D77C1B8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E4276-3455-4FE9-B2D6-715B30E6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40491-C7AC-48FF-A20A-3F2E80C2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0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React, Swift, mobile, CLI, or any UI you control.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40665-B292-4DCA-A505-CDC6069B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FF4ED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2227C-ED9A-49AD-93C6-6F48DFB6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D8E84-C833-431D-9F06-6AAC0E2B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A4364-A38E-4632-A0C9-2C9E7D77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718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Holds API key, auth, app state, logs, and tool implementations.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1B278-BBEB-44FD-B8A8-BDBC5572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E8BD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3ADB6-3232-4C32-95D1-D5655FAE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720AA-96B0-4CCA-8930-CC44361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B0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A5B0A"/>
                </a:solidFill>
                <a:latin typeface="Aptos Mono"/>
                <a:ea typeface="Aptos Mono"/>
                <a:cs typeface="Aptos Mono"/>
              </a:rPr>
              <a:t>Responses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C9897-5C8D-46F7-A656-562D8289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5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Unified model call with built-in tools, custom functions, MCP, multimodal inputs, and state.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EBE02-AECE-4828-A530-81633029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5E0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467C1-B99A-45E8-8CC9-CEE498E6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4FCB6-47FC-4330-B09E-9C06133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289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rPr>
              <a:t>External systems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D45A2-2C64-495E-855E-D96092FA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1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Databases, SaaS APIs, files, jobs, and private services.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84C83-30F0-40D8-AA43-F142D95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24225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86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2B9CB-1133-428E-97CD-40114E0F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24225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3163D2-8D61-4FBE-A385-EB24FCD5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24225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1263F-C572-40C4-8E92-6A17B490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4286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F0A8B-1A51-4C52-BD41-C305A4B8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026C2-F35E-4B98-8FEA-225B0C6D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386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rPr>
              <a:t>When to use 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4CC6E-612B-45E5-9186-FA96125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91150"/>
            <a:ext cx="386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93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You need custom UX, custom auth, account-specific state, mobile/native surfaces, streaming product interactions, or backend workflows beyond ChatGPT.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97DC00-EC85-49C2-96F2-831A5247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286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DC904C-6758-4185-8E15-2338FA9F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17A212-901E-42B2-BAA5-55FDE681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48250"/>
            <a:ext cx="386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rPr>
              <a:t>Current default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713921-E26E-471F-8513-90F21FF5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91150"/>
            <a:ext cx="386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For new API projects, use Responses instead of Chat Completions unless an existing migration constraint says otherwise.</a:t>
            </a:r>
          </a:p>
        </p:txBody>
      </p:sp>
    </p:spTree>
    <p:extLst>
      <p:ext uri="{BB962C8B-B14F-4D97-AF65-F5344CB8AC3E}">
        <p14:creationId xmlns:p14="http://schemas.microsoft.com/office/powerpoint/2010/main" val="1518912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A8616-5A5A-4602-A64C-6E56C4C2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PLATFORM API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B6969-23B0-4A8D-8AE2-1794225F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19E86-6568-4CC8-9497-DED3428D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14288">
            <a:solidFill>
              <a:srgbClr val="2428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0E225-E0AD-4F35-A3C1-7433A03D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11318"/>
                </a:solidFill>
                <a:latin typeface="Poppins"/>
                <a:ea typeface="Poppins"/>
                <a:cs typeface="Poppins"/>
              </a:rPr>
              <a:t>Platform API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2EB3A-91E6-4A44-99B5-55828C1B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333940"/>
                </a:solidFill>
                <a:latin typeface="Lato"/>
                <a:ea typeface="Lato"/>
                <a:cs typeface="Lato"/>
              </a:rPr>
              <a:t>Minimal Node/Express server route utilizing the unified Responses tool calling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6624C-2AF2-40FE-867F-F52F6DD7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3DB1D-32F8-4E42-B497-C420380B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5334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2151B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3F532-3DE8-478D-9FD9-39C16FC1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4E768-F5B6-4D55-97BF-D426D07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DC2C4-9DDC-45B5-BC73-CAF57035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10F1E-8FCE-4878-BE46-E2188277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F555C-E1C9-4FD4-98D1-3D073E0C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62225"/>
            <a:ext cx="445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rPr>
              <a:t>server route: first model 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D773D-BEA7-4BC3-9512-01F75F7C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9530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// server.js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import OpenAI from "openai";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import express from "express";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const app = express();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app.use(express.json());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const openai = new OpenAI({ apiKey: process.env.OPENAI_API_KEY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function lookupOrder({ order_id })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return { status: "shipped", eta: "2026-06-02" };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app.post("/api/assistant", async (req, res) =&gt;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const first = await openai.responses.create({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model: "gpt-5.5",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instructions: "You help users track orders.",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input: req.body.message,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tools: [{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type: "function",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name: "lookup_order",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description: "Use this when the user asks for order status.",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strict: true,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parameters: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type: "object",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properties: { order_id: { type: "string" } },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required: ["order_id"],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additionalProperties: false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}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}]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43FF4-5AE9-44DE-B289-C9BD5AC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334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2151B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C4D44-7E55-4FF3-8137-D21C0653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FD36A-3C43-4FDD-A426-16CD196C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14F25-2E14-4E9B-9E10-19FCCD54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B0DA9-15AF-4835-914A-2372136E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1B03E-D2AB-472C-BAE8-293A0CBC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62225"/>
            <a:ext cx="445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rPr>
              <a:t>server route: return tool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8B07D-557E-45B6-B871-6C18D126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33700"/>
            <a:ext cx="49530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const functionCalls = first.output.filter(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(item) =&gt; item.type === "function_call"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const toolOutputs = functionCalls.map((call) =&gt; ({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type: "function_call_output",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call_id: call.call_id,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output: JSON.stringify(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call.name === "lookup_order"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? lookupOrder(JSON.parse(call.arguments))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    : { error: "unknown tool" }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const final = await openai.responses.create({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model: "gpt-5.5",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previous_response_id: first.id,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input: toolOutputs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res.json({ text: final.output_text });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1843679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9ABCB-A027-486B-A754-E76BA6F3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PLATFORM UI &amp; PRODUCT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C7E3A-AEAE-4B5B-9EB8-2C5F0407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6E13D-EA9C-4A5F-9736-08B8F74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14288">
            <a:solidFill>
              <a:srgbClr val="2428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39F20-00D9-4F3D-B0C0-450A0A4A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11318"/>
                </a:solidFill>
                <a:latin typeface="Poppins"/>
                <a:ea typeface="Poppins"/>
                <a:cs typeface="Poppins"/>
              </a:rPr>
              <a:t>Using the Platform UI and product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1DE15-EB01-4625-8D46-BE209CB7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333940"/>
                </a:solidFill>
                <a:latin typeface="Lato"/>
                <a:ea typeface="Lato"/>
                <a:cs typeface="Lato"/>
              </a:rPr>
              <a:t>Prototype in the Playground/Dashboard, then build and ship in your own interface.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7BF63-DB72-41E2-A15C-F43ED833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4D9B4-904D-44ED-B138-CA1BF18E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2956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E8BD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FB8E8-D2DC-4FBF-BE43-1EBD57A7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E9283-7798-442D-8FE1-1F38A111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B0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A5B0A"/>
                </a:solidFill>
                <a:latin typeface="Aptos Mono"/>
                <a:ea typeface="Aptos Mono"/>
                <a:cs typeface="Aptos Mono"/>
              </a:rPr>
              <a:t>Dashboard / Playground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28CCF-E398-4A58-8B7A-45E83B00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876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Generate and iterate on prompts, function schemas, model choices, structured outputs, eval cases, and API keys.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6CD36-95D9-411A-85FE-56057DA2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32956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F4ED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F9F8E-9133-49E5-8089-EBEF6371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B37E8-DA36-4FC0-BA2E-890E598E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rPr>
              <a:t>Backend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88603-DC91-404F-AE94-A1597495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0400"/>
            <a:ext cx="2876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Store secrets in environment variables, stream Responses events, execute tools, and write logs around user requests.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34F95-2345-45AE-B8AD-AEB65E26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32956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2F61B-4A17-455B-A410-F7D48E0B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74EF2-87E9-4EE9-8265-0E4D9834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rPr>
              <a:t>Your app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E3D93-A786-427F-84E6-9BCC25E6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0400"/>
            <a:ext cx="2876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82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Chat surface, form workflow, command palette, document editor, mobile view, or internal ops console.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CD028-CD53-4F5E-B856-90FFB400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46291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151B"/>
          </a:solidFill>
          <a:ln xmlns:a="http://schemas.openxmlformats.org/drawingml/2006/main" w="11430">
            <a:solidFill>
              <a:srgbClr val="2428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ED4AB-F95F-487B-A994-3B44BF83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462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C97A0-4C57-490C-920E-FEEE3BD3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88B86-EE35-4E2C-954B-86C47918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E107A-F39F-4ACD-AE1D-9FB5511C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E31CF-7DCE-403A-B3AC-E4AB8909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62475"/>
            <a:ext cx="375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CAD1DA"/>
                </a:solidFill>
                <a:latin typeface="Aptos Mono"/>
                <a:ea typeface="Aptos Mono"/>
                <a:cs typeface="Aptos Mono"/>
              </a:rPr>
              <a:t>frontend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5C1210-9966-45FA-B138-BD4382F7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4248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8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// Browser UI calls your backend, not OpenAI directly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async function sendMessage(message)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const res = await fetch("/api/assistant", {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method: "POST",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headers: { "content-type": "application/json" },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  body: JSON.stringify({ message })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});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const data = await res.json();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  appendAssistantMessage(data.text);</a:t>
            </a:r>
          </a:p>
          <a:p xmlns:a="http://schemas.openxmlformats.org/drawingml/2006/main">
            <a:pPr algn="l">
              <a:def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CF2F8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1C596-B35B-43BB-96A5-8315B249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4362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338BEB-4DF8-4A7F-9873-83D9942A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ED9F6-227B-4503-9EBA-C111B84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3943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rPr>
              <a:t>Production habit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8CDE2D-E4B2-4FA3-AAA0-328CAF41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0"/>
            <a:ext cx="3943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Keep tool definitions small at the start of each turn. Use built-in tools when they fit, custom functions when your app owns the action, and remote MCP when the capability already exists behind a server.</a:t>
            </a:r>
          </a:p>
        </p:txBody>
      </p:sp>
    </p:spTree>
    <p:extLst>
      <p:ext uri="{BB962C8B-B14F-4D97-AF65-F5344CB8AC3E}">
        <p14:creationId xmlns:p14="http://schemas.microsoft.com/office/powerpoint/2010/main" val="981279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A43643-962D-4D3F-B9C5-72030764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LAUNCH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0FD78-194F-47C6-9B66-4E6FADE6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DEC9C-E5DC-4055-8FD0-030D222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14288">
            <a:solidFill>
              <a:srgbClr val="2428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44BEF-2111-48EF-97CC-56E4B1EE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11318"/>
                </a:solidFill>
                <a:latin typeface="Poppins"/>
                <a:ea typeface="Poppins"/>
                <a:cs typeface="Poppins"/>
              </a:rPr>
              <a:t>Deployment and submission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D9345-53CE-4591-BD5A-44E8A6B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333940"/>
                </a:solidFill>
                <a:latin typeface="Lato"/>
                <a:ea typeface="Lato"/>
                <a:cs typeface="Lato"/>
              </a:rPr>
              <a:t>Secure endpoints, narrow tools, tested UIs, and review-ready metadata are key.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E483D-6D70-4FD6-92FD-0263F430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B6A56"/>
                </a:solidFill>
                <a:latin typeface="Aptos Mono"/>
                <a:ea typeface="Aptos Mono"/>
                <a:cs typeface="Aptos Mono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70384-BD74-4473-A22F-28685F7F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476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DFF4ED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2F310-DBDC-43DC-B8F8-8E7D7196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4CE68-5B0A-45D6-BCDA-C767807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0B486"/>
                </a:solidFill>
                <a:latin typeface="Aptos Mono"/>
                <a:ea typeface="Aptos Mono"/>
                <a:cs typeface="Aptos Mono"/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F7DDD-A1D7-4D11-B3A9-240C5CDE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057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Define one user intent per tool. Add inputSchema, outputSchema, accurate descriptions, and side-effect annotations. Keep structuredContent concise.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91603-944A-4187-8F3A-5E4CBD1C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52700"/>
            <a:ext cx="2476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BE5E0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9C85-D496-4383-B9FA-7F29EA39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52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27E68-5F95-44B3-982F-674D0176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241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96B58"/>
                </a:solidFill>
                <a:latin typeface="Aptos Mono"/>
                <a:ea typeface="Aptos Mono"/>
                <a:cs typeface="Aptos Mono"/>
              </a:rPr>
              <a:t>Secure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ED8A4-F875-427D-97CA-60FE03A5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67050"/>
            <a:ext cx="2057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Keep keys server-side. Minimize user data. Set exact CSP domains for widgets. Do not expose secrets in structuredContent, content, or _meta.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B3CA5-5BAE-4820-8248-14975954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2476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E8BD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F0F35-595C-443C-8B96-4840B581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0D776-ED77-4DBD-B35E-77469DEB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B0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A5B0A"/>
                </a:solidFill>
                <a:latin typeface="Aptos Mono"/>
                <a:ea typeface="Aptos Mono"/>
                <a:cs typeface="Aptos Mono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F7E1C-551D-45DD-87DE-E3C5D5C0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2057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Run MCP Inspector for ChatGPT apps. Run API route tests for Platform apps. Test golden prompts, bad inputs, retries, and mobile layouts.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6E364-3813-48DA-9687-3E1B344F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476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6FD7F-DD2E-4441-80FE-4ED4A9DA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741F7-036E-44D1-82B2-C195D12E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6DFF"/>
                </a:solidFill>
                <a:latin typeface="Aptos Mono"/>
                <a:ea typeface="Aptos Mono"/>
                <a:cs typeface="Aptos Mono"/>
              </a:rPr>
              <a:t>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951AC-F7B9-4285-8568-BB685D4A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2057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318"/>
                </a:solidFill>
                <a:latin typeface="Lato"/>
                <a:ea typeface="Lato"/>
                <a:cs typeface="Lato"/>
              </a:rPr>
              <a:t>Use stable HTTPS, reliable TLS, logs, metrics, latency visibility, and review-safe demo credentials if auth is required.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207FD-08BC-4404-8A69-E4B4B54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3924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225128-58D6-4BA3-8F6B-E8B9A252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C08D4E-12BE-4705-8232-CFA53D1C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350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B486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20B486"/>
                </a:solidFill>
                <a:latin typeface="Lato"/>
                <a:ea typeface="Lato"/>
                <a:cs typeface="Lato"/>
              </a:rPr>
              <a:t>Private/internal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06BA2F-6C5E-4F2E-88A4-AB3B09C2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3505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333940"/>
                </a:solidFill>
                <a:latin typeface="Lato"/>
                <a:ea typeface="Lato"/>
                <a:cs typeface="Lato"/>
              </a:rPr>
              <a:t>Use Developer Mode for ChatGPT Apps, or ship your Platform app privately with normal auth and access control.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65DD6-5F39-4F3A-9998-104C0E48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19700"/>
            <a:ext cx="3924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428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2C4CB2-F8C9-4200-8D5F-E56A9312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197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43EDC0-C162-43EF-93A1-428EA5E7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53050"/>
            <a:ext cx="350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6B58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E96B58"/>
                </a:solidFill>
                <a:latin typeface="Lato"/>
                <a:ea typeface="Lato"/>
                <a:cs typeface="Lato"/>
              </a:rPr>
              <a:t>Public ChatGPT app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CB0A6C-B52E-4A52-9E40-06E50A34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00700"/>
            <a:ext cx="3505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3940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333940"/>
                </a:solidFill>
                <a:latin typeface="Lato"/>
                <a:ea typeface="Lato"/>
                <a:cs typeface="Lato"/>
              </a:rPr>
              <a:t>Submit only after org verification, CSP, screenshots, privacy policy, test cases, and production MCP URL are ready.</a:t>
            </a:r>
          </a:p>
        </p:txBody>
      </p:sp>
    </p:spTree>
    <p:extLst>
      <p:ext uri="{BB962C8B-B14F-4D97-AF65-F5344CB8AC3E}">
        <p14:creationId xmlns:p14="http://schemas.microsoft.com/office/powerpoint/2010/main" val="884063160"/>
      </p:ext>
    </p:extLst>
  </p:cSld>
</p:sld>
</file>

<file path=ppt/theme/theme1.xml><?xml version="1.0" encoding="utf-8"?>
<a:theme xmlns:a="http://schemas.openxmlformats.org/drawingml/2006/main" name="OpenAI Builder Workshop">
  <a:themeElements>
    <a:clrScheme name="OpenAI Builder Workshop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20B486"/>
      </a:accent1>
      <a:accent2>
        <a:srgbClr val="E96B58"/>
      </a:accent2>
      <a:accent3>
        <a:srgbClr val="D6A33A"/>
      </a:accent3>
      <a:accent4>
        <a:srgbClr val="486DFF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enAI Builder Worksho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2026-05-31T10:43:09.7450000Z</dcterms:created>
  <dcterms:modified xsi:type="dcterms:W3CDTF">2026-05-31T10:43:09.7450000Z</dcterms:modified>
</coreProperties>
</file>